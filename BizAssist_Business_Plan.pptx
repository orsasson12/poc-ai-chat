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Arial"/>
              </a:rPr>
              <a:t>Gross Margin לפי מדרגה — % (בתוך מגבלת העלויות)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0B4A6"/>
            </a:solidFill>
            <a:effectLst/>
          </c:spPr>
          <c:invertIfNegative val="0"/>
          <c:dLbls>
            <c:numFmt formatCode="0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4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Business</c:v>
                  </c:pt>
                  <c:pt idx="3">
                    <c:v>Enterprise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</c:v>
                </c:pt>
                <c:pt idx="1">
                  <c:v>76</c:v>
                </c:pt>
                <c:pt idx="2">
                  <c:v>68</c:v>
                </c:pt>
                <c:pt idx="3">
                  <c:v>63</c:v>
                </c:pt>
              </c:numCache>
            </c:numRef>
          </c:val>
        </c:ser>
        <c:dLbls>
          <c:numFmt formatCode="0\%" sourceLinked="0"/>
          <c:txPr>
            <a:bodyPr/>
            <a:lstStyle/>
            <a:p>
              <a:pPr>
                <a:defRPr b="0" i="0" strike="noStrike" sz="1200" u="none">
                  <a:solidFill>
                    <a:srgbClr val="0B14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94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437"/>
                </a:solidFill>
                <a:latin typeface="Arial"/>
              </a:rPr>
              <a:t>MRR vs COGS — חודשים 1–12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(₪K)</c:v>
                </c:pt>
              </c:strCache>
            </c:strRef>
          </c:tx>
          <c:spPr>
            <a:solidFill>
              <a:srgbClr val="00B4A6"/>
            </a:solidFill>
            <a:ln w="38100" cap="flat">
              <a:solidFill>
                <a:srgbClr val="00B4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A6"/>
              </a:solidFill>
              <a:ln w="9525" cap="flat">
                <a:solidFill>
                  <a:srgbClr val="00B4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14</c:v>
                </c:pt>
                <c:pt idx="4">
                  <c:v>22</c:v>
                </c:pt>
                <c:pt idx="5">
                  <c:v>32</c:v>
                </c:pt>
                <c:pt idx="6">
                  <c:v>47</c:v>
                </c:pt>
                <c:pt idx="7">
                  <c:v>65</c:v>
                </c:pt>
                <c:pt idx="8">
                  <c:v>85</c:v>
                </c:pt>
                <c:pt idx="9">
                  <c:v>108</c:v>
                </c:pt>
                <c:pt idx="10">
                  <c:v>130</c:v>
                </c:pt>
                <c:pt idx="11">
                  <c:v>155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COGS (₪K)</c:v>
                </c:pt>
              </c:strCache>
            </c:strRef>
          </c:tx>
          <c:spPr>
            <a:solidFill>
              <a:srgbClr val="FF5A5F"/>
            </a:solidFill>
            <a:ln w="38100" cap="flat">
              <a:solidFill>
                <a:srgbClr val="FF5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A5F"/>
              </a:solidFill>
              <a:ln w="9525" cap="flat">
                <a:solidFill>
                  <a:srgbClr val="FF5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3.5</c:v>
                </c:pt>
                <c:pt idx="4">
                  <c:v>5.5</c:v>
                </c:pt>
                <c:pt idx="5">
                  <c:v>8</c:v>
                </c:pt>
                <c:pt idx="6">
                  <c:v>11.5</c:v>
                </c:pt>
                <c:pt idx="7">
                  <c:v>16</c:v>
                </c:pt>
                <c:pt idx="8">
                  <c:v>21</c:v>
                </c:pt>
                <c:pt idx="9">
                  <c:v>27</c:v>
                </c:pt>
                <c:pt idx="10">
                  <c:v>32</c:v>
                </c:pt>
                <c:pt idx="11">
                  <c:v>38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4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B4A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תוכנית עסקית — 2026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צ'אט AI לעסקים עם RAG מבודד, ענייני, בעברית — איך בונים, מוכרים ומרוויחים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97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אסטרטגית — שוק, תחרות, תמחור, יחידת כלכלה, GTM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62940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אפריל 2026 · הכנה פנימית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ההזדמנות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הצ'אט-AI הגיע לעולם — אבל עסקים ישראליים עוד לא קיבלו פתרון שמתאים להם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566160" cy="914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~600K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עסקים קטנים ובינוניים פעילים בישראל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463040"/>
            <a:ext cx="3566160" cy="9144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691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משתמשים היום בצ'אטבוט AI באתר שלהם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356616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691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החזר על תמיכה אוטומטית מול נציג אנושי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הלקוח הישראלי לא מקבל מהפתרונות הקיימים: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727448"/>
            <a:ext cx="283464" cy="28346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8016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עברית חלשה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5074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Chatbase/Intercom מדברים אנגלית כשפת אם — עברית נראית מתורגמת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74720" y="4617720"/>
            <a:ext cx="502920" cy="50292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4727448"/>
            <a:ext cx="283464" cy="28346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11480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 WhatsApp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383280" y="5074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ערוץ #1 בישראל, אבל הפתרונות הגלובליים גובים פרמיה עליו או לא תומכים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309360" y="4617720"/>
            <a:ext cx="502920" cy="50292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727448"/>
            <a:ext cx="283464" cy="2834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4944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 בידוד אמיתי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217920" y="5074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מרבית הפתרונות מערבבים דאטה — סיכון חשיפה בין לקוחות (חמור לקליניקות/ביטוח)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144000" y="4617720"/>
            <a:ext cx="502920" cy="50292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4727448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78408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תמחור מבלבל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9052560" y="5074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לשיחה (Intercom) הופך את ROI ללא-הגיוני לעסק עם 1000 לידים בחודש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35" name="Text 2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 — BizAssist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צ'אט-AI ׳שקוף׳ שענה רק על מה שבעל העסק נתן לו. בלי המצאות, בלי דליפה, בעברית.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566160" cy="64008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691640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8728" y="17556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ידע הוא הכל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העלאת PDF / DOCX / URL / CSV / Q&amp;A → chunking + embedding → Pinecone per-tenant namespace. האסיסטנט עונה רק מהידע הזה.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554480"/>
            <a:ext cx="3566160" cy="64008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691640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17556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שכבות אבטחה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2628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זיהוי Prompt Injection, סינון תוכן, הסרת PII, validation על הפלט עם canary tokens ייחודיים, ו-audit trail מלא.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55448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9" name="Shape 15"/>
          <p:cNvSpPr/>
          <p:nvPr/>
        </p:nvSpPr>
        <p:spPr>
          <a:xfrm>
            <a:off x="10972800" y="1691640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175564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אינטגרציה חלקה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27532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embeddable לכל אתר (Wix / Shopify / WordPress), WhatsApp, Messenger, Instagram — setup של חמש דקות.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תזרים המוצר: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9795967" y="50292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0B4A6"/>
          </a:solidFill>
          <a:ln/>
        </p:spPr>
      </p:sp>
      <p:sp>
        <p:nvSpPr>
          <p:cNvPr id="25" name="Text 20"/>
          <p:cNvSpPr/>
          <p:nvPr/>
        </p:nvSpPr>
        <p:spPr>
          <a:xfrm>
            <a:off x="9887407" y="5074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9887407" y="5074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העלאת ידע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948879" y="50292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B1437"/>
          </a:solidFill>
          <a:ln/>
        </p:spPr>
      </p:sp>
      <p:sp>
        <p:nvSpPr>
          <p:cNvPr id="28" name="Text 23"/>
          <p:cNvSpPr/>
          <p:nvPr/>
        </p:nvSpPr>
        <p:spPr>
          <a:xfrm>
            <a:off x="8040319" y="5074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040319" y="5074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Embedding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101791" y="50292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0B4A6"/>
          </a:solidFill>
          <a:ln/>
        </p:spPr>
      </p:sp>
      <p:sp>
        <p:nvSpPr>
          <p:cNvPr id="31" name="Text 26"/>
          <p:cNvSpPr/>
          <p:nvPr/>
        </p:nvSpPr>
        <p:spPr>
          <a:xfrm>
            <a:off x="6193231" y="5074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193231" y="5074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לפי tenant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254703" y="50292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B1437"/>
          </a:solidFill>
          <a:ln/>
        </p:spPr>
      </p:sp>
      <p:sp>
        <p:nvSpPr>
          <p:cNvPr id="34" name="Text 29"/>
          <p:cNvSpPr/>
          <p:nvPr/>
        </p:nvSpPr>
        <p:spPr>
          <a:xfrm>
            <a:off x="4346143" y="5074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346143" y="5074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שיחה + RAG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2407615" y="50292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0B4A6"/>
          </a:solidFill>
          <a:ln/>
        </p:spPr>
      </p:sp>
      <p:sp>
        <p:nvSpPr>
          <p:cNvPr id="37" name="Text 32"/>
          <p:cNvSpPr/>
          <p:nvPr/>
        </p:nvSpPr>
        <p:spPr>
          <a:xfrm>
            <a:off x="2499055" y="5074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2499055" y="5074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בקרת פלט + קנרי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560527" y="50292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B1437"/>
          </a:solidFill>
          <a:ln/>
        </p:spPr>
      </p:sp>
      <p:sp>
        <p:nvSpPr>
          <p:cNvPr id="40" name="Text 35"/>
          <p:cNvSpPr/>
          <p:nvPr/>
        </p:nvSpPr>
        <p:spPr>
          <a:xfrm>
            <a:off x="651967" y="5074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51967" y="5074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תשובה מבוססת בלבד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43" name="Text 3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עכשיו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החלון פתוח — כי שוק ישראל רק מתחיל להאמץ, והטכנולוגיה הגיעה לרמה של ׳מספיק טובה׳ בעברית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37160" cy="14630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63040"/>
            <a:ext cx="10972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54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 1 · טכנולוגיה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עלויות LLM ירדו פי 10 ב-18 חודשים (GPT-4o-mini: $0.15/M input)</a:t>
            </a:r>
            <a:endParaRPr lang="en-US" sz="1200" dirty="0"/>
          </a:p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prompt caching חוסך 90% על context חוזר</a:t>
            </a:r>
            <a:endParaRPr lang="en-US" sz="1200" dirty="0"/>
          </a:p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איכותיים בעברית (OpenAI v3) — דיוק 85%+ ב-retrieval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37160" cy="14630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200400"/>
            <a:ext cx="10972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91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 2 · התנהגות צרכן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מהצרכנים הישראלים צופים תשובה מיידית (McKinsey 2024)</a:t>
            </a:r>
            <a:endParaRPr lang="en-US" sz="1200" dirty="0"/>
          </a:p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ערוץ תקשורת #1 — 96% חדירה בישראל</a:t>
            </a:r>
            <a:endParaRPr lang="en-US" sz="1200" dirty="0"/>
          </a:p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דור Z/Y מעדיף לצ׳וטט במקום להתקשר (60%+ מהאינטראקציות)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37160" cy="146304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937760"/>
            <a:ext cx="10972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029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 3 · שוק ותחרות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מתחרים גלובליים מתמקדים באנגלית, תקשורת Enterprise</a:t>
            </a:r>
            <a:endParaRPr lang="en-US" sz="1200" dirty="0"/>
          </a:p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בישראל אין עדיין שחקן RAG דומיננטי בעברית לעסקים קטנים</a:t>
            </a:r>
            <a:endParaRPr lang="en-US" sz="1200" dirty="0"/>
          </a:p>
          <a:p>
            <a:pPr algn="r"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שוק סוכנויות Wix/Shopify בישראל מחפש ערך מוסף ללקוחותיו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 התחרות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כולם בונים צ'אטבוטים. אף אחד לא בונה פתרון ׳ישראלי מהיסוד׳ עם RAG ו-WhatsApp מובנים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417320"/>
            <a:ext cx="4754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474720"/>
            <a:ext cx="475488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235440" y="1417320"/>
            <a:ext cx="0" cy="4114800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זול  ·  יקר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274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עברית ← חלשה  ·  חזקה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47304" y="4160520"/>
            <a:ext cx="274320" cy="274320"/>
          </a:xfrm>
          <a:prstGeom prst="ellipse">
            <a:avLst/>
          </a:prstGeom>
          <a:solidFill>
            <a:srgbClr val="8494B0"/>
          </a:solidFill>
          <a:ln/>
        </p:spPr>
      </p:sp>
      <p:sp>
        <p:nvSpPr>
          <p:cNvPr id="11" name="Text 9"/>
          <p:cNvSpPr/>
          <p:nvPr/>
        </p:nvSpPr>
        <p:spPr>
          <a:xfrm>
            <a:off x="7370064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000232" y="3954780"/>
            <a:ext cx="274320" cy="274320"/>
          </a:xfrm>
          <a:prstGeom prst="ellipse">
            <a:avLst/>
          </a:prstGeom>
          <a:solidFill>
            <a:srgbClr val="8494B0"/>
          </a:solidFill>
          <a:ln/>
        </p:spPr>
      </p:sp>
      <p:sp>
        <p:nvSpPr>
          <p:cNvPr id="13" name="Text 11"/>
          <p:cNvSpPr/>
          <p:nvPr/>
        </p:nvSpPr>
        <p:spPr>
          <a:xfrm>
            <a:off x="10222992" y="42565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 Fin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0536" y="3543300"/>
            <a:ext cx="274320" cy="274320"/>
          </a:xfrm>
          <a:prstGeom prst="ellipse">
            <a:avLst/>
          </a:prstGeom>
          <a:solidFill>
            <a:srgbClr val="8494B0"/>
          </a:solidFill>
          <a:ln/>
        </p:spPr>
      </p:sp>
      <p:sp>
        <p:nvSpPr>
          <p:cNvPr id="15" name="Text 13"/>
          <p:cNvSpPr/>
          <p:nvPr/>
        </p:nvSpPr>
        <p:spPr>
          <a:xfrm>
            <a:off x="8083296" y="38450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49256" y="3749040"/>
            <a:ext cx="274320" cy="274320"/>
          </a:xfrm>
          <a:prstGeom prst="ellipse">
            <a:avLst/>
          </a:prstGeom>
          <a:solidFill>
            <a:srgbClr val="8494B0"/>
          </a:solidFill>
          <a:ln/>
        </p:spPr>
      </p:sp>
      <p:sp>
        <p:nvSpPr>
          <p:cNvPr id="17" name="Text 15"/>
          <p:cNvSpPr/>
          <p:nvPr/>
        </p:nvSpPr>
        <p:spPr>
          <a:xfrm>
            <a:off x="9272016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237976" y="4160520"/>
            <a:ext cx="274320" cy="274320"/>
          </a:xfrm>
          <a:prstGeom prst="ellipse">
            <a:avLst/>
          </a:prstGeom>
          <a:solidFill>
            <a:srgbClr val="8494B0"/>
          </a:solidFill>
          <a:ln/>
        </p:spPr>
      </p:sp>
      <p:sp>
        <p:nvSpPr>
          <p:cNvPr id="19" name="Text 17"/>
          <p:cNvSpPr/>
          <p:nvPr/>
        </p:nvSpPr>
        <p:spPr>
          <a:xfrm>
            <a:off x="10460736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 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73768" y="2514600"/>
            <a:ext cx="274320" cy="274320"/>
          </a:xfrm>
          <a:prstGeom prst="ellipse">
            <a:avLst/>
          </a:prstGeom>
          <a:solidFill>
            <a:srgbClr val="1B2A5E"/>
          </a:solidFill>
          <a:ln/>
        </p:spPr>
      </p:sp>
      <p:sp>
        <p:nvSpPr>
          <p:cNvPr id="21" name="Text 19"/>
          <p:cNvSpPr/>
          <p:nvPr/>
        </p:nvSpPr>
        <p:spPr>
          <a:xfrm>
            <a:off x="8796528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פתרונות מקומיים*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93608" y="1600200"/>
            <a:ext cx="457200" cy="457200"/>
          </a:xfrm>
          <a:prstGeom prst="ellipse">
            <a:avLst/>
          </a:prstGeom>
          <a:solidFill>
            <a:srgbClr val="00B4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07808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5852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כמו Lumana, וואטסאפ-בוטים מקומיים — לא RAG מלא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1417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איפה אנחנו שונים: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182880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1828800"/>
            <a:ext cx="73152" cy="11887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עברית מהיסוד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2240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embeddings, UI, תמיכה — הכל בעברית. עם RTL מלא בווידג'ט.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11880" y="182880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18288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79476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מובנה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94760" y="2240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add-on, לא upsell — חלק מהפלאן. כולל templates מאושרים.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15468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154680"/>
            <a:ext cx="73152" cy="118872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בידוד אמיתי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namespace-per-tenant + Postgres RLS. לא סינון-שדה מסוכן.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11880" y="315468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154680"/>
            <a:ext cx="73152" cy="11887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0" name="Text 38"/>
          <p:cNvSpPr/>
          <p:nvPr/>
        </p:nvSpPr>
        <p:spPr>
          <a:xfrm>
            <a:off x="379476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בלבד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9476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יענה על דברים שלא העליתם — 5 שכבות safety מוודאות.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48056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480560"/>
            <a:ext cx="73152" cy="11887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תמחור ישראלי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" y="4892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בשקלים, חשבוניות, הוראות קבע. לא $0.99 לשיחה.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11880" y="448056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11880" y="448056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379476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Partner-friendly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794760" y="4892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תוכנית סוכנויות עם לוח ניהול לכל לקוח.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הלקוחות שלנו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פרופילים, שתי מסגרות מכירה, אותה טכנולוגיה בליבה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00" cy="10058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#1 · SMB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 קטן–בינוני עם אתר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ענפים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77440" y="27249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קליניקות · משרדי עו"ד · חנויות Wix/Shopify · סטודיו לכושר · ספקי שירות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77440" y="336499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1–20 עובדים, &lt;1,000 לידים/חודש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77440" y="40050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בעל העסק עצמו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4663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377440" y="46451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₪149–₪499 / חודש · self-serve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5303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מחזור מכירה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77440" y="52852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cycle: 1–3 ימים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150876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1508760"/>
            <a:ext cx="5486400" cy="10058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23" name="Shape 20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8660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#2 · Mid-Market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עסקים עם צוות CX / שיווק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4652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ענפים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955280" y="27249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רשתות קמעונאיות · ביטוח &amp; פיננסים · בריאות מורכבת · סוכנויות נסיעות · B2B SaaS מקומי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44652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955280" y="336499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20–500 עובדים, 1K–50K לידים/חודש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44652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955280" y="40050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/ VP Operations / CX Lead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446520" y="4663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7955280" y="46451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₪1,499–₪15,000 / חודש · custom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446520" y="5303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מחזור מכירה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955280" y="52852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cycle: 2–8 שבועות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38" name="Text 3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מדרגות תמחור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מדרגות — מכסות self-serve SMB ועד enterprise עם SLA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2697480" cy="640080"/>
          </a:xfrm>
          <a:prstGeom prst="rect">
            <a:avLst/>
          </a:prstGeom>
          <a:solidFill>
            <a:srgbClr val="8494B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₪149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לחודש, מע"מ לא כלול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 יחיד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214884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319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אסיסטנט 1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שיחות/חודש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20MB ידע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ווידג'ט לאתר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אימייל תמיכה 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600200"/>
            <a:ext cx="269748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1307592"/>
            <a:ext cx="2331720" cy="29260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307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הכי פופולרי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1600200"/>
            <a:ext cx="2697480" cy="6400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₪499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38328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לחודש, מע"מ לא כלול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474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פעיל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3840480"/>
            <a:ext cx="214884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9319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אסיסטנטים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שיחות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200MB ידע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ווידג'ט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Lead capture  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600200"/>
            <a:ext cx="2697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600200"/>
            <a:ext cx="2697480" cy="64008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0" y="2377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₪1,499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21792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לחודש, מע"מ לא כלול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474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840480"/>
            <a:ext cx="214884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9319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אסיסטנטים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שיחות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1GB ידע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הערוצים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+ SLA  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52560" y="1600200"/>
            <a:ext cx="2697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52560" y="1600200"/>
            <a:ext cx="269748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052560" y="2377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₪5,000+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905256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לחודש, מע"מ לא כלול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52560" y="3474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26880" y="3840480"/>
            <a:ext cx="214884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39319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White-label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namespace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 99.9%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ייעודי  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Overage: ₪0.15 לשיחה מעבר למכסה · הנחה 20% בתשלום שנתי · חודש ראשון חינם בכל מדרגה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יחידת כלכלה — עלות לשיחה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מאיפה העלויות, למה הן קטנות מהמחיר, ואיפה המרג'ין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21945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ממוצעת לשיחה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₪0.04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($0.011) · בסיס: 4 תורות, ~9.5K tokens, model mix 80/20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48640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914400"/>
              </a:tblGrid>
              <a:tr h="313509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רכיב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מחיר יחידה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שימוש לשיחה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עלות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(80% שיחות)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$0.15/$0.60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 in / 1.2K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(20% שיחות)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$2.50/$10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 in / 1.2K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$16.5 / M 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שאילתה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 /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Moderation (OpenAI)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ממוצע משוקלל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$0.008–0.011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548640" y="3931920"/>
          <a:ext cx="11064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שמירה על המרג'ין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אנחנו מונעים מלקוח אחד לשבור את יחידת הכלכלה שלנו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0" y="1737360"/>
            <a:ext cx="548640" cy="5486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008" y="18470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 חכם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מהשיחות רצות על GPT-4o-mini. GPT-4o רק כשההקשר ארוך / אין chunks. Claude רק ל-failover.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0" y="1737360"/>
            <a:ext cx="548640" cy="5486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8470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retrieved chunks נשמרים ב-Anthropic cache. 90% חסכון על context שחוזר על עצמו.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5087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881360" y="1737360"/>
            <a:ext cx="548640" cy="5486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18470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Dedup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 דומות → same cached answer ב-Redis. מוריד 20–30% מהעלות על FAQ-heavy tenants.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383280" y="4023360"/>
            <a:ext cx="548640" cy="5486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413308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Truncation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2296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lib/llm/history — שומר רק 10 תורות + summary, לא שולח את כל השיחה בכל פעם.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37947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32320" y="4023360"/>
            <a:ext cx="548640" cy="5486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413308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Quota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7200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תקרה קשיחה בכל פלאן. ב-80%–100%–120% → אלרטים + חסימה / overage. אין ׳bill surprise׳.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37947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881360" y="4023360"/>
            <a:ext cx="548640" cy="54864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088" y="413308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2104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Detection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2104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60/min, identical-query spam detection, CAPTCHA בערוץ ציבורי מעבר ל-X שיחות/IP.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6" name="Text 28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יעד: גם לקוח פי 3 משימוש ממוצע → עדיין Gross Margin &gt; 50%. בלי חריגות.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38" name="Text 3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3 שלבים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חודשים, מ-pilot ראשון ל-₪150K MRR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566160" cy="11887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6459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6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 1–3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310896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יעד: MRR ₪10K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לקוחות pilot ב-50% הנחה ל-3 חודשים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100 cold emails/שבוע ל-Wix agencies + קליניקות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בעברית + demo video של 90 שניות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מעקב hand-on אחרי כל לקוח → feedback loops שבועיים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463040"/>
            <a:ext cx="3566160" cy="11887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3949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channel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6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 4–9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2834640"/>
            <a:ext cx="310896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יעד: MRR ₪50K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4290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שותפויות עם סוכנויות Wix / Shopify / WordPress (30% rev-share year 1)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dashboard — ניהול מרובה לקוחות במקום אחד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משלוש תעשיות (קליניקה, eComm, עו"ד)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קמפיין LinkedIn + Google Ads בעברית ל-decision makers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46304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0" y="1463040"/>
            <a:ext cx="356616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91440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440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6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 10–18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75320" y="2834640"/>
            <a:ext cx="310896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יעד: MRR ₪150K+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34290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marketplace: Wix App Market, Shopify App Store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בלוג עברי, webinars, 2 podcasts עסקיים בחודש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Account Executives במשרה מלאה למכירה mid-market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playbook + RFP templates מוכנים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מוכרים בפועל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motions במקביל — PLG ל-SMB, sales-assisted ל-mid-market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00" cy="6858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(PLG) · SMB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411480" cy="41148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 · Wix partners · SEO (׳צ׳אטבוט לעסק׳)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90088"/>
            <a:ext cx="411480" cy="41148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בעברית · 90-sec demo · ׳נסה עכשיו בחינם׳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648456"/>
            <a:ext cx="411480" cy="41148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3877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→ העלאה → כתובת-URL → בוט עובד תוך 5 דקות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306824"/>
            <a:ext cx="411480" cy="41148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535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ימים חינם · credit card required · reminder emails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965192"/>
            <a:ext cx="411480" cy="41148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65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5193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Trial→Paid 25% target · onboarding checklist · Aha moment = 10 שיחות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5623560"/>
            <a:ext cx="411480" cy="41148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623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→ Upsell automatic · add channel (WhatsApp) · add seat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141732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1417320"/>
            <a:ext cx="5486400" cy="6858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1417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Sales-assisted · Mid-market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2331720"/>
            <a:ext cx="411480" cy="411480"/>
          </a:xfrm>
          <a:prstGeom prst="ellipse">
            <a:avLst/>
          </a:prstGeom>
          <a:solidFill>
            <a:srgbClr val="0B143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Sales Navigator · 50 acc./שבוע · ABM rolls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2990088"/>
            <a:ext cx="411480" cy="411480"/>
          </a:xfrm>
          <a:prstGeom prst="ellipse">
            <a:avLst/>
          </a:prstGeom>
          <a:solidFill>
            <a:srgbClr val="0B1437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4944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call · pain (volume שיחות, עלות CX) · ROI calc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3648456"/>
            <a:ext cx="411480" cy="411480"/>
          </a:xfrm>
          <a:prstGeom prst="ellipse">
            <a:avLst/>
          </a:prstGeom>
          <a:solidFill>
            <a:srgbClr val="0B1437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49440" y="3877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demo עם הידע של הלקוח · 48h POC · stakeholder map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4306824"/>
            <a:ext cx="411480" cy="411480"/>
          </a:xfrm>
          <a:prstGeom prst="ellipse">
            <a:avLst/>
          </a:prstGeom>
          <a:solidFill>
            <a:srgbClr val="0B1437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4944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49440" y="4535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14–21 יום · success criteria חתומים · champion building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4965192"/>
            <a:ext cx="411480" cy="411480"/>
          </a:xfrm>
          <a:prstGeom prst="ellipse">
            <a:avLst/>
          </a:prstGeom>
          <a:solidFill>
            <a:srgbClr val="0B1437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0" y="4965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49440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49440" y="5193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/ Multi-year · paper process · Security review · DPA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0" y="5623560"/>
            <a:ext cx="411480" cy="411480"/>
          </a:xfrm>
          <a:prstGeom prst="ellipse">
            <a:avLst/>
          </a:prstGeom>
          <a:solidFill>
            <a:srgbClr val="0B1437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5623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94944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4944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dedicated · 30-60-90 plan · QBR quarterly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תחזית 12 חודשים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מבוססת על מיקס לקוחות ריאלי וציפיות GTM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17320"/>
          <a:ext cx="4114800" cy="41148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463040"/>
              </a:tblGrid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יעד M6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₪32K 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יעד M12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₪155K 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SMB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₪500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₪3,000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sales rep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LTV:CAC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בכל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משוקלל 12M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SMB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 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849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&lt;1.5% 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58952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ראשיים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571500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5715000"/>
            <a:ext cx="73152" cy="7772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₪155K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31520" y="6172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חודש 12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37560" y="571500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37560" y="5715000"/>
            <a:ext cx="73152" cy="7772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4" name="Text 10"/>
          <p:cNvSpPr/>
          <p:nvPr/>
        </p:nvSpPr>
        <p:spPr>
          <a:xfrm>
            <a:off x="352044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₪1.86M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20440" y="6172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חודש 12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571500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571500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630936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309360" y="6172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משוקלל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915400" y="571500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915400" y="5715000"/>
            <a:ext cx="73152" cy="77724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22" name="Text 18"/>
          <p:cNvSpPr/>
          <p:nvPr/>
        </p:nvSpPr>
        <p:spPr>
          <a:xfrm>
            <a:off x="909828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חדש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098280" y="6172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(מיקס SMB+MM)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סיכונים והפחתה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יכול להשתבש, ואיך אנחנו מוכנים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554480"/>
            <a:ext cx="7772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נמוך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27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עלויות טוקנים מזנקות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per-tenant · prompt caching · model routing · alerting 80%–120%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1554480"/>
            <a:ext cx="77724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527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מתחרה גלובלי נכנס חזק לעברית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מעמיקים שותפויות מקומיות · WhatsApp מובנה · חשבוניות/תמיכה עברית כפנייה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788920"/>
            <a:ext cx="77724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788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איכות תשובות → churn גבוה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154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scoring · feedback loop · human escalation מובנה · הדרכת upload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65176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2788920"/>
            <a:ext cx="7772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98480" y="2788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נמוך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761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דליפת מידע בין tenants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154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isolation + RLS + CI cross-tenant test · canary tokens · bug bounty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4023360"/>
            <a:ext cx="77724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4023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995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תלות ב-OpenAI/Anthropic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אוטומטי · 2 ספקי embedding חלופיים · abstraction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88620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98480" y="4023360"/>
            <a:ext cx="77724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2" name="Text 30"/>
          <p:cNvSpPr/>
          <p:nvPr/>
        </p:nvSpPr>
        <p:spPr>
          <a:xfrm>
            <a:off x="10698480" y="4023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995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מחזור מכירה ארוך ב-mid-market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4389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מובנה · ROI calculator · champion playbook · compliance docs מראש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12064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5257800"/>
            <a:ext cx="77724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52578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5230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רגולציה ישראלית (הגנת הפרטיות)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יועץ משפטי · DPA template · חוק הפרטיות · ISO27001 בתכנון (Y2)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512064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98480" y="5257800"/>
            <a:ext cx="777240" cy="32004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2" name="Text 40"/>
          <p:cNvSpPr/>
          <p:nvPr/>
        </p:nvSpPr>
        <p:spPr>
          <a:xfrm>
            <a:off x="10698480" y="52578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גבוה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5230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לפני breakeven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0936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team (3-4 בתחילה) · Founder sales · revenue-first · אופציה ל-Angel seed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5895" y="521208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הימים הקרובים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עושים מחר בבוקר — בסדר ביצוע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974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697480" cy="73152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שבועות 1–2 · תשתית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423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הקמת entity ישראלית + חשבון Stripe בש"ח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+ דומיין bizassist.co.il + דף pricing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billing + overage tracking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ללקוחות להרשמה עצמאית  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974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63040"/>
            <a:ext cx="2697480" cy="7315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63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שבועות 3–6 · 10 pilots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331720"/>
            <a:ext cx="2423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ל-50 עסקים (קליניקות, עו"ד, Wix stores)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חתימה על 10 pilots ב-50% הנחה למשך 3 חודשים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 עם כל לקוח — feedback מלא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ראשון תוך 30 יום 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974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2697480" cy="73152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63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שבועות 7–9 · שותפויות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423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פנייה ל-20 סוכנויות Wix/Shopify ישראליות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חתימה על 3 שותפויות עם rev-share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dashboard — MVP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על Wix App Market בפומבי 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463040"/>
            <a:ext cx="26974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37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1463040"/>
            <a:ext cx="269748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1463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שבועות 10–12 · 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0" y="2331720"/>
            <a:ext cx="2423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המרת 50% מה-pilots ל-paid — יעד ₪10K MRR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 + Google Ads — תקציב ₪15K/חודש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גיוס AE ראשון או הדוק SDR part-time  ✓</a:t>
            </a:r>
            <a:endParaRPr lang="en-US" sz="11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החלטה: bootstrap או angel round של $250K–500K 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3E8F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תוכנית עסקית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00B4A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18288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spc="6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המשפט שסוגר את הדיון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אנחנו בונים את הצ'אטבוט שעסק ישראלי יכול להפעיל באתר שלו היום אחה"צ.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בעברית · בתמחור שקלי · עם WhatsApp · בלי המצאות · עם שותף אמיתי מאחורי הקלעים.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5943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הצעד הבא: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2578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אישור תוכנית 90 הימים → תחילת Outbound ל-10 לקוחות pilot כבר השבוע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BizAssist AI · bizassist.co.il · orsasson72@gmail.com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BizAssist AI — תוכנית עסקית</dc:title>
  <dc:subject>PptxGenJS Presentation</dc:subject>
  <dc:creator>BizAssist</dc:creator>
  <cp:lastModifiedBy>BizAssist</cp:lastModifiedBy>
  <cp:revision>1</cp:revision>
  <dcterms:created xsi:type="dcterms:W3CDTF">2026-04-23T15:54:13Z</dcterms:created>
  <dcterms:modified xsi:type="dcterms:W3CDTF">2026-04-23T15:54:13Z</dcterms:modified>
</cp:coreProperties>
</file>